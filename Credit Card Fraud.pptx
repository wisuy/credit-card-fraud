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288549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288549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63a45f26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63a45f26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63a45f26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63a45f26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63a45f268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63a45f268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63a45f26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63a45f26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63a45f26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63a45f26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63a45f26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63a45f26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63a45f26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63a45f26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63a45f2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63a45f2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3a45f26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3a45f26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kaggle.com/datasets/mlg-ulb/creditcardfrau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902075" y="770750"/>
            <a:ext cx="62418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00"/>
              <a:t>Benchmarking ML and DL Architectures for Imbalanced Credit Card Fraud Detection</a:t>
            </a:r>
            <a:endParaRPr sz="32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654700" y="4223325"/>
            <a:ext cx="2387700" cy="9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Hodor Alexandru-Rafael</a:t>
            </a:r>
            <a:br>
              <a:rPr lang="en" sz="1600"/>
            </a:br>
            <a:r>
              <a:rPr lang="en" sz="1600"/>
              <a:t>IMA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ACE - UCV</a:t>
            </a:r>
            <a:endParaRPr sz="1600"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2400" y="3856400"/>
            <a:ext cx="1101600" cy="128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Challenge: Extreme Imbalance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Dataset Source</a:t>
            </a:r>
            <a:r>
              <a:rPr lang="en" sz="1400"/>
              <a:t> European cardholder transactions (2013) found on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kaggle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Extreme Imbalance</a:t>
            </a:r>
            <a:r>
              <a:rPr lang="en" sz="1400"/>
              <a:t> 0.173% fraud rate, only 492 fraudulent cases out of 284,807 total transactions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The "Accuracy Trap"</a:t>
            </a:r>
            <a:r>
              <a:rPr lang="en" sz="1400"/>
              <a:t> Standard accuracy is a deceptive metric in this context; a 99.8% score can be achieved by simply predicting "No Fraud" for every case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Primary Metric (AUPRC)</a:t>
            </a:r>
            <a:r>
              <a:rPr lang="en" sz="1400"/>
              <a:t> Area Under the Precision-Recall Curve is adopted as the primary success factor to isolate the minority class signal from the majority class "noise"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 Methodology (MLP)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328975" y="1559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Network Architecture</a:t>
            </a:r>
            <a:r>
              <a:rPr lang="en" sz="1400"/>
              <a:t> A three-layer Multi-Layer Perceptron using a 32-16-1 neuron structure with ReLU and Sigmoid activations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Optimization Strategy</a:t>
            </a:r>
            <a:r>
              <a:rPr lang="en" sz="1400"/>
              <a:t> Adam Optimizer paired with a custom Focal Loss function featuring a gamma of 2.0 and alpha of 0.25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The Focal Loss Advantage</a:t>
            </a:r>
            <a:r>
              <a:rPr lang="en" sz="1400"/>
              <a:t> This custom loss function acts as the project's secret sauce by forcing the network to prioritize hard fraudulent cases rather than being overwhelmed by millions of easy legitimate ones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Regularization Techniques</a:t>
            </a:r>
            <a:r>
              <a:rPr lang="en" sz="1400"/>
              <a:t> Integration of Dropout layers and feature clipping within a -5 to 5 range to mitigate the impact of PCA outliers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 Highlights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50" y="4278475"/>
            <a:ext cx="9144000" cy="49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Circadian Rhythms</a:t>
            </a:r>
            <a:r>
              <a:rPr lang="en" sz="1400"/>
              <a:t> Legitimate transactions follow human sleep/wake cycles, fraud is flatter across 24 hours.</a:t>
            </a:r>
            <a:endParaRPr sz="1400"/>
          </a:p>
        </p:txBody>
      </p:sp>
      <p:pic>
        <p:nvPicPr>
          <p:cNvPr id="155" name="Google Shape;155;p16" title="Transaction Volume by Hour of Da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050" y="900938"/>
            <a:ext cx="7237799" cy="33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 Highlights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0" y="4052950"/>
            <a:ext cx="9144000" cy="82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Transaction Value</a:t>
            </a:r>
            <a:r>
              <a:rPr lang="en" sz="1400"/>
              <a:t> Fraud tends to cluster in smaller denominations to avoid "limit-based" triggers.</a:t>
            </a:r>
            <a:endParaRPr sz="1400"/>
          </a:p>
        </p:txBody>
      </p:sp>
      <p:pic>
        <p:nvPicPr>
          <p:cNvPr id="162" name="Google Shape;162;p17" title="Distribution of Transaction Amou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587" y="1090550"/>
            <a:ext cx="7840826" cy="296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Environments &amp; Resampling Strategies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Anomaly-Filtered Environment</a:t>
            </a:r>
            <a:r>
              <a:rPr lang="en" sz="1400"/>
              <a:t> Evaluation on the initial dataset after using </a:t>
            </a:r>
            <a:r>
              <a:rPr i="1" lang="en" sz="1400"/>
              <a:t>Isolation Forest</a:t>
            </a:r>
            <a:r>
              <a:rPr lang="en" sz="1400"/>
              <a:t> to identify and handle outlier distributions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Random Under-Sampling</a:t>
            </a:r>
            <a:r>
              <a:rPr lang="en" sz="1400"/>
              <a:t> Implementation of </a:t>
            </a:r>
            <a:r>
              <a:rPr i="1" lang="en" sz="1400"/>
              <a:t>RUS</a:t>
            </a:r>
            <a:r>
              <a:rPr lang="en" sz="1400"/>
              <a:t> to balance classes by removing majority instances based on the IF-cleaned distribution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Synthetic Minority Over-sampling</a:t>
            </a:r>
            <a:r>
              <a:rPr lang="en" sz="1400"/>
              <a:t> Application of </a:t>
            </a:r>
            <a:r>
              <a:rPr i="1" lang="en" sz="1400"/>
              <a:t>SMOTE</a:t>
            </a:r>
            <a:r>
              <a:rPr lang="en" sz="1400"/>
              <a:t> to generate artificial fraud instances between existing minority data points within the filtered feature space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The Generalization Hypothesis</a:t>
            </a:r>
            <a:r>
              <a:rPr lang="en" sz="1400"/>
              <a:t> Testing whether synthetic data generation helps models find better decision boundaries or simply introduces mathematical noise that compromises precision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Benchmarking Suite: The 10 Competitors</a:t>
            </a:r>
            <a:endParaRPr/>
          </a:p>
        </p:txBody>
      </p:sp>
      <p:sp>
        <p:nvSpPr>
          <p:cNvPr id="174" name="Google Shape;174;p19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Statistical Baselines</a:t>
            </a:r>
            <a:r>
              <a:rPr lang="en" sz="1400"/>
              <a:t> Implementation of </a:t>
            </a:r>
            <a:r>
              <a:rPr i="1" lang="en" sz="1400"/>
              <a:t>Logistic Regression</a:t>
            </a:r>
            <a:r>
              <a:rPr lang="en" sz="1400"/>
              <a:t> with liblinear solver and </a:t>
            </a:r>
            <a:r>
              <a:rPr i="1" lang="en" sz="1400"/>
              <a:t>Linear SVC</a:t>
            </a:r>
            <a:r>
              <a:rPr lang="en" sz="1400"/>
              <a:t> to establish fundamental linear performance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Standard and Balanced Ensembles</a:t>
            </a:r>
            <a:r>
              <a:rPr lang="en" sz="1400"/>
              <a:t> Utilization of </a:t>
            </a:r>
            <a:r>
              <a:rPr i="1" lang="en" sz="1400"/>
              <a:t>Decision Trees</a:t>
            </a:r>
            <a:r>
              <a:rPr lang="en" sz="1400"/>
              <a:t> and </a:t>
            </a:r>
            <a:r>
              <a:rPr i="1" lang="en" sz="1400"/>
              <a:t>Random Forests</a:t>
            </a:r>
            <a:r>
              <a:rPr lang="en" sz="1400"/>
              <a:t> alongside a specialized </a:t>
            </a:r>
            <a:r>
              <a:rPr i="1" lang="en" sz="1400"/>
              <a:t>Balanced Random Forest</a:t>
            </a:r>
            <a:r>
              <a:rPr lang="en" sz="1400"/>
              <a:t> integrated with Isolation Forest logic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Gradient Boosting Frameworks</a:t>
            </a:r>
            <a:r>
              <a:rPr lang="en" sz="1400"/>
              <a:t> Evaluation of standard </a:t>
            </a:r>
            <a:r>
              <a:rPr i="1" lang="en" sz="1400"/>
              <a:t>Gradient Boosting</a:t>
            </a:r>
            <a:r>
              <a:rPr lang="en" sz="1400"/>
              <a:t>, </a:t>
            </a:r>
            <a:r>
              <a:rPr i="1" lang="en" sz="1400"/>
              <a:t>XGBoost</a:t>
            </a:r>
            <a:r>
              <a:rPr lang="en" sz="1400"/>
              <a:t> with log-loss optimization, and </a:t>
            </a:r>
            <a:r>
              <a:rPr i="1" lang="en" sz="1400"/>
              <a:t>LightGBM</a:t>
            </a:r>
            <a:r>
              <a:rPr lang="en" sz="1400"/>
              <a:t> to measure state-of-the-art ensemble efficiency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Neural Network Implementation</a:t>
            </a:r>
            <a:r>
              <a:rPr lang="en" sz="1400"/>
              <a:t> Deployment of a custom </a:t>
            </a:r>
            <a:r>
              <a:rPr i="1" lang="en" sz="1400"/>
              <a:t>Multi-Layer Perceptron</a:t>
            </a:r>
            <a:r>
              <a:rPr lang="en" sz="1400"/>
              <a:t> architecture developed specifically for imbalanced fraud detection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Hyperparameter Optimization</a:t>
            </a:r>
            <a:r>
              <a:rPr lang="en" sz="1400"/>
              <a:t> Inclusion of a </a:t>
            </a:r>
            <a:r>
              <a:rPr i="1" lang="en" sz="1400"/>
              <a:t>Random Forest</a:t>
            </a:r>
            <a:r>
              <a:rPr lang="en" sz="1400"/>
              <a:t> model tuned via an automated pipeline and </a:t>
            </a:r>
            <a:r>
              <a:rPr i="1" lang="en" sz="1400"/>
              <a:t>Grid Search</a:t>
            </a:r>
            <a:r>
              <a:rPr lang="en" sz="1400"/>
              <a:t> to establish a peak performance ceiling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1297500" y="253475"/>
            <a:ext cx="7038900" cy="6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Results: The AUPRC Leaders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510400" y="3099575"/>
            <a:ext cx="3129000" cy="133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Winner: Random Forest (IF)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Runner-up: Neural Network (IF)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High Efficiency: XGBoost (IF)</a:t>
            </a:r>
            <a:endParaRPr sz="1400"/>
          </a:p>
        </p:txBody>
      </p:sp>
      <p:pic>
        <p:nvPicPr>
          <p:cNvPr id="181" name="Google Shape;181;p20" title="auprc comparison.png"/>
          <p:cNvPicPr preferRelativeResize="0"/>
          <p:nvPr/>
        </p:nvPicPr>
        <p:blipFill rotWithShape="1">
          <a:blip r:embed="rId3">
            <a:alphaModFix/>
          </a:blip>
          <a:srcRect b="28537" l="5456" r="3749" t="51057"/>
          <a:stretch/>
        </p:blipFill>
        <p:spPr>
          <a:xfrm>
            <a:off x="1269750" y="832475"/>
            <a:ext cx="7094399" cy="180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3861975" y="3132875"/>
            <a:ext cx="5178000" cy="12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Precision vs. Recall Trade-off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Standard Data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High Precision (0.97), Moderate Recall (0.75)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SMOTE/RUS Data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High Recall (0.87), Low Precision (0.06)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"Operational Champion": XGBoost</a:t>
            </a:r>
            <a:endParaRPr/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1297500" y="1348225"/>
            <a:ext cx="7038900" cy="31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Top-Tier Accuracy</a:t>
            </a:r>
            <a:r>
              <a:rPr lang="en" sz="1400"/>
              <a:t> Consistently ranked in the top three for AUPRC, delivering high-performance fraud detection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Rapid Training Scalability</a:t>
            </a:r>
            <a:r>
              <a:rPr lang="en" sz="1400"/>
              <a:t> Training completed in just 1.01 seconds, making it 25 times faster to update than Neural Networks or Random Forests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Ultra-Low Inference Latency</a:t>
            </a:r>
            <a:r>
              <a:rPr lang="en" sz="1400"/>
              <a:t> Predictions delivered in 0.0004 ms, providing near-instantaneous decision-making at the point of sale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The Neural Network Penalty</a:t>
            </a:r>
            <a:r>
              <a:rPr lang="en" sz="1400"/>
              <a:t> The MLP is roughly 80x to 100x slower at inference than XGBoost, creating massive CPU overhead in high-volume environments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/>
              <a:t>The Real-World Winner</a:t>
            </a:r>
            <a:r>
              <a:rPr lang="en" sz="1400"/>
              <a:t> XGBoost is the operational champion because its speed allows for frequent model retraining without requiring expensive hardware upgrades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&amp; Future Improvements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/>
              <a:t>Peak Accuracy:</a:t>
            </a:r>
            <a:r>
              <a:rPr lang="en" sz="1400"/>
              <a:t> Random Forest (IF) for minimizing false positives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/>
              <a:t>Maximum Fraud Capture:</a:t>
            </a:r>
            <a:r>
              <a:rPr lang="en" sz="1400"/>
              <a:t> Logistic Regression (SMOTE) for aggressive recall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/>
              <a:t>Architectural Balance: </a:t>
            </a:r>
            <a:r>
              <a:rPr lang="en" sz="1400"/>
              <a:t>Neural Network (IF) for deep learning stability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●"/>
            </a:pPr>
            <a:r>
              <a:rPr b="1" lang="en" sz="1400"/>
              <a:t>Operational Scalability:</a:t>
            </a:r>
            <a:r>
              <a:rPr lang="en" sz="1400"/>
              <a:t> XGBoost (IF) for high-frequency environments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The "No Free Lunch" Principle</a:t>
            </a:r>
            <a:r>
              <a:rPr lang="en" sz="1400"/>
              <a:t> High Recall and high Precision exist in a constant trade-off where maximizing one typically compromises the other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Research Limitations</a:t>
            </a:r>
            <a:r>
              <a:rPr lang="en" sz="1400"/>
              <a:t> The study is constrained by a static dataset and the absence of behavioral features due to PCA-anonymization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/>
              <a:t>Future Methodology</a:t>
            </a:r>
            <a:r>
              <a:rPr lang="en" sz="1400"/>
              <a:t> Development of Hybrid Stacking models and integration of Explainable AI using SHAP or LIME for model transparency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ctrTitle"/>
          </p:nvPr>
        </p:nvSpPr>
        <p:spPr>
          <a:xfrm>
            <a:off x="3312100" y="623450"/>
            <a:ext cx="4746000" cy="240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Thanks for your </a:t>
            </a:r>
            <a:r>
              <a:rPr lang="en" sz="3600"/>
              <a:t>attention</a:t>
            </a:r>
            <a:r>
              <a:rPr lang="en" sz="3600"/>
              <a:t>!</a:t>
            </a:r>
            <a:endParaRPr sz="3600"/>
          </a:p>
        </p:txBody>
      </p:sp>
      <p:sp>
        <p:nvSpPr>
          <p:cNvPr id="200" name="Google Shape;200;p23"/>
          <p:cNvSpPr txBox="1"/>
          <p:nvPr>
            <p:ph idx="1" type="subTitle"/>
          </p:nvPr>
        </p:nvSpPr>
        <p:spPr>
          <a:xfrm>
            <a:off x="4460475" y="2974175"/>
            <a:ext cx="23196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Questions?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